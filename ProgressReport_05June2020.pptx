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3" r:id="rId3"/>
    <p:sldId id="257" r:id="rId4"/>
    <p:sldId id="259" r:id="rId5"/>
    <p:sldId id="260" r:id="rId6"/>
    <p:sldId id="261" r:id="rId7"/>
    <p:sldId id="262" r:id="rId8"/>
    <p:sldId id="25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DF5BD-4DDE-44BF-A149-655CF6A959E5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C54FA-F7B4-4FFE-9AB6-647D6BA5B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9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ond_dissociation_energy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Zero_point_energy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 </a:t>
            </a:r>
            <a:r>
              <a:rPr lang="en-US" dirty="0" smtClean="0">
                <a:effectLst/>
              </a:rPr>
              <a:t>r </a:t>
            </a:r>
            <a:r>
              <a:rPr lang="en-US" dirty="0" smtClean="0"/>
              <a:t>is the distance between the atoms, </a:t>
            </a:r>
            <a:r>
              <a:rPr lang="en-US" dirty="0" err="1" smtClean="0">
                <a:effectLst/>
              </a:rPr>
              <a:t>r_e</a:t>
            </a:r>
            <a:r>
              <a:rPr lang="en-US" dirty="0" smtClean="0">
                <a:effectLst/>
              </a:rPr>
              <a:t> </a:t>
            </a:r>
            <a:r>
              <a:rPr lang="en-US" dirty="0" smtClean="0"/>
              <a:t>is the equilibrium bond distance, </a:t>
            </a:r>
            <a:r>
              <a:rPr lang="en-US" dirty="0" err="1" smtClean="0">
                <a:effectLst/>
              </a:rPr>
              <a:t>D_e</a:t>
            </a:r>
            <a:r>
              <a:rPr lang="en-US" baseline="0" dirty="0" smtClean="0">
                <a:effectLst/>
              </a:rPr>
              <a:t> </a:t>
            </a:r>
            <a:r>
              <a:rPr lang="en-US" dirty="0" smtClean="0"/>
              <a:t>is the well depth (defined relative to the dissociated atoms), and </a:t>
            </a:r>
            <a:r>
              <a:rPr lang="en-US" dirty="0" smtClean="0">
                <a:effectLst/>
              </a:rPr>
              <a:t>a </a:t>
            </a:r>
            <a:r>
              <a:rPr lang="en-US" dirty="0" smtClean="0"/>
              <a:t>controls the 'width' of the potential (the smaller </a:t>
            </a:r>
            <a:r>
              <a:rPr lang="en-US" dirty="0" smtClean="0">
                <a:effectLst/>
              </a:rPr>
              <a:t>a {\</a:t>
            </a:r>
            <a:r>
              <a:rPr lang="en-US" dirty="0" err="1" smtClean="0">
                <a:effectLst/>
              </a:rPr>
              <a:t>displaystyle</a:t>
            </a:r>
            <a:r>
              <a:rPr lang="en-US" dirty="0" smtClean="0">
                <a:effectLst/>
              </a:rPr>
              <a:t> a} </a:t>
            </a:r>
            <a:r>
              <a:rPr lang="en-US" dirty="0" smtClean="0"/>
              <a:t>is, the larger the well). The </a:t>
            </a:r>
            <a:r>
              <a:rPr lang="en-US" dirty="0" smtClean="0">
                <a:hlinkClick r:id="rId3" tooltip="Bond dissociation energy"/>
              </a:rPr>
              <a:t>dissociation energy</a:t>
            </a:r>
            <a:r>
              <a:rPr lang="en-US" dirty="0" smtClean="0"/>
              <a:t> of the bond can be calculated by subtracting the </a:t>
            </a:r>
            <a:r>
              <a:rPr lang="en-US" dirty="0" smtClean="0">
                <a:hlinkClick r:id="rId4" tooltip="Zero point energy"/>
              </a:rPr>
              <a:t>zero point energy</a:t>
            </a:r>
            <a:r>
              <a:rPr lang="en-US" dirty="0" smtClean="0"/>
              <a:t> </a:t>
            </a:r>
            <a:r>
              <a:rPr lang="en-US" dirty="0" smtClean="0">
                <a:effectLst/>
              </a:rPr>
              <a:t>E 0 {\</a:t>
            </a:r>
            <a:r>
              <a:rPr lang="en-US" dirty="0" err="1" smtClean="0">
                <a:effectLst/>
              </a:rPr>
              <a:t>displaystyle</a:t>
            </a:r>
            <a:r>
              <a:rPr lang="en-US" dirty="0" smtClean="0">
                <a:effectLst/>
              </a:rPr>
              <a:t> E_{0}} </a:t>
            </a:r>
            <a:r>
              <a:rPr lang="en-US" dirty="0" smtClean="0"/>
              <a:t>from the depth of the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9C54FA-F7B4-4FFE-9AB6-647D6BA5BA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4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3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5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5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7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3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6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7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1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4B43A-CDD6-4573-B155-2B7A21BBF5E9}" type="datetimeFigureOut">
              <a:rPr lang="en-US" smtClean="0"/>
              <a:t>6/5/2020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66A9D-E856-488E-BA0E-6F88DE38F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2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144000" cy="50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384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7200"/>
            <a:ext cx="9144000" cy="50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44000" cy="475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32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141886"/>
            <a:ext cx="5105400" cy="4716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14300"/>
            <a:ext cx="8229600" cy="1143000"/>
          </a:xfrm>
        </p:spPr>
        <p:txBody>
          <a:bodyPr/>
          <a:lstStyle/>
          <a:p>
            <a:r>
              <a:rPr lang="en-US" dirty="0" smtClean="0"/>
              <a:t>Morse Potential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28700"/>
            <a:ext cx="49339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3886200" cy="931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217821"/>
            <a:ext cx="2209800" cy="61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17876" y="3825349"/>
                <a:ext cx="1878848" cy="910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⇒</m:t>
                      </m:r>
                      <m:r>
                        <a:rPr lang="en-US" b="1" i="1" smtClean="0">
                          <a:latin typeface="Cambria Math"/>
                        </a:rPr>
                        <m:t>𝒂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𝒆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/>
                                </a:rPr>
                                <m:t>𝝁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𝒆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76" y="3825349"/>
                <a:ext cx="1878848" cy="91069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971800" y="152400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90800" y="1524000"/>
            <a:ext cx="228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2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7467600" cy="20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/>
          <a:lstStyle/>
          <a:p>
            <a:r>
              <a:rPr lang="en-US" dirty="0" err="1" smtClean="0"/>
              <a:t>Eigenfunctions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" r="8806"/>
          <a:stretch/>
        </p:blipFill>
        <p:spPr bwMode="auto">
          <a:xfrm>
            <a:off x="3581400" y="597780"/>
            <a:ext cx="5562600" cy="626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973"/>
            <a:ext cx="4038600" cy="86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8600" y="2903220"/>
            <a:ext cx="3017520" cy="449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7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 smtClean="0"/>
              <a:t>Frank Condon Factors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1066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/>
                                </a:rPr>
                                <m:t>′′</m:t>
                              </m:r>
                            </m:sup>
                          </m:sSup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≈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𝜓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∫</m:t>
                              </m:r>
                              <m:sSubSup>
                                <m:sSubSupPr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𝑋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′′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/>
                                </a:rPr>
                                <m:t>𝑑𝑅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10668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4840" r="8988" b="2706"/>
          <a:stretch/>
        </p:blipFill>
        <p:spPr bwMode="auto">
          <a:xfrm>
            <a:off x="1524000" y="1600199"/>
            <a:ext cx="6102209" cy="524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2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-228600"/>
                <a:ext cx="8229600" cy="114300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Great… but what’s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-228600"/>
                <a:ext cx="8229600" cy="1143000"/>
              </a:xfrm>
              <a:blipFill rotWithShape="1">
                <a:blip r:embed="rId2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90600"/>
                <a:ext cx="8610600" cy="4800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 smtClean="0"/>
                  <a:t>Could determine from</a:t>
                </a:r>
                <a:br>
                  <a:rPr lang="en-US" sz="2400" dirty="0" smtClean="0"/>
                </a:br>
                <a:r>
                  <a:rPr lang="en-US" sz="2400" dirty="0" smtClean="0"/>
                  <a:t> rotational structure</a:t>
                </a:r>
              </a:p>
              <a:p>
                <a:endParaRPr lang="en-US" sz="2400" dirty="0"/>
              </a:p>
              <a:p>
                <a:endParaRPr lang="en-US" sz="2400" dirty="0" smtClean="0"/>
              </a:p>
              <a:p>
                <a:endParaRPr lang="en-US" sz="2400" dirty="0"/>
              </a:p>
              <a:p>
                <a:r>
                  <a:rPr lang="en-US" sz="2400" dirty="0" smtClean="0"/>
                  <a:t>But for now I’m using.. chemistry?</a:t>
                </a:r>
                <a:br>
                  <a:rPr lang="en-US" sz="2400" dirty="0" smtClean="0"/>
                </a:br>
                <a:r>
                  <a:rPr lang="en-US" sz="2400" dirty="0" smtClean="0"/>
                  <a:t>-Relate vibrational well depth to </a:t>
                </a:r>
                <a:r>
                  <a:rPr lang="en-US" sz="2400" i="1" dirty="0" smtClean="0"/>
                  <a:t>ionic</a:t>
                </a:r>
                <a:r>
                  <a:rPr lang="en-US" sz="2400" dirty="0" smtClean="0"/>
                  <a:t> dissociation energy, I.E. of Ra, and E.A. of F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𝒟</m:t>
                        </m:r>
                      </m:sub>
                      <m:sup/>
                    </m:sSubSup>
                    <m:r>
                      <a:rPr lang="en-US" sz="2400" b="0" i="1" smtClean="0">
                        <a:latin typeface="Cambria Math"/>
                      </a:rPr>
                      <m:t>≈</m:t>
                    </m:r>
                    <m:r>
                      <a:rPr lang="en-US" sz="2400" i="1">
                        <a:latin typeface="Cambria Math"/>
                      </a:rPr>
                      <m:t>𝒟</m:t>
                    </m:r>
                    <m:r>
                      <a:rPr lang="en-US" sz="24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h</m:t>
                        </m:r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16 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𝒟</m:t>
                        </m:r>
                      </m:den>
                    </m:f>
                    <m:r>
                      <a:rPr lang="en-US" sz="2400" b="0" i="1" smtClean="0">
                        <a:latin typeface="Cambria Math"/>
                      </a:rPr>
                      <m:t>; </m:t>
                    </m:r>
                    <m:sSubSup>
                      <m:sSubSupPr>
                        <m:ctrlPr>
                          <a:rPr lang="en-US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𝒟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𝑖𝑜𝑛𝑖𝑐</m:t>
                        </m:r>
                      </m:sup>
                    </m:sSubSup>
                    <m:r>
                      <a:rPr lang="en-US" sz="2400" b="0" i="0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𝒟</m:t>
                        </m:r>
                      </m:sub>
                      <m:sup/>
                    </m:sSubSup>
                  </m:oMath>
                </a14:m>
                <a:r>
                  <a:rPr lang="en-US" sz="2400" dirty="0" smtClean="0"/>
                  <a:t>+ (I.E.</a:t>
                </a:r>
                <a:r>
                  <a:rPr lang="en-US" sz="2400" baseline="-25000" dirty="0" smtClean="0"/>
                  <a:t>RA</a:t>
                </a:r>
                <a:r>
                  <a:rPr lang="en-US" sz="2400" dirty="0" smtClean="0"/>
                  <a:t> –E.A.</a:t>
                </a:r>
                <a:r>
                  <a:rPr lang="en-US" sz="2400" baseline="-25000" dirty="0" smtClean="0"/>
                  <a:t>F</a:t>
                </a:r>
                <a:r>
                  <a:rPr lang="en-US" sz="2400" dirty="0" smtClean="0"/>
                  <a:t>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𝒟</m:t>
                          </m:r>
                        </m:sub>
                        <m:sup>
                          <m:r>
                            <a:rPr lang="en-US" sz="2400" i="1">
                              <a:latin typeface="Cambria Math"/>
                            </a:rPr>
                            <m:t>𝑖𝑜𝑛𝑖𝑐</m:t>
                          </m:r>
                        </m:sup>
                      </m:sSubSup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4 </m:t>
                          </m:r>
                          <m:r>
                            <a:rPr lang="en-US" sz="2400" i="1">
                              <a:latin typeface="Cambria Math"/>
                            </a:rPr>
                            <m:t>𝜋</m:t>
                          </m:r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𝐵𝑜𝑛𝑑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𝐵𝑜𝑛𝑑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≈</m:t>
                      </m:r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4 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𝜋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𝒟</m:t>
                                  </m:r>
                                </m:sub>
                                <m:sup/>
                              </m:sSubSup>
                              <m:r>
                                <m:rPr>
                                  <m:nor/>
                                </m:rPr>
                                <a:rPr lang="en-US" sz="2400" dirty="0"/>
                                <m:t>+ 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/>
                                <m:t>RA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 –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sz="2400" baseline="-25000" dirty="0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sz="2400" dirty="0"/>
                                <m:t>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90600"/>
                <a:ext cx="8610600" cy="4800600"/>
              </a:xfrm>
              <a:blipFill rotWithShape="1">
                <a:blip r:embed="rId3"/>
                <a:stretch>
                  <a:fillRect l="-920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505201" y="737201"/>
            <a:ext cx="4876799" cy="2234599"/>
            <a:chOff x="3505201" y="661001"/>
            <a:chExt cx="4876799" cy="2234599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43"/>
            <a:stretch/>
          </p:blipFill>
          <p:spPr bwMode="auto">
            <a:xfrm>
              <a:off x="3505201" y="661001"/>
              <a:ext cx="4876799" cy="2234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/>
            <p:cNvSpPr/>
            <p:nvPr/>
          </p:nvSpPr>
          <p:spPr>
            <a:xfrm>
              <a:off x="5486400" y="1905000"/>
              <a:ext cx="914400" cy="4495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7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Putting it all together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09929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16"/>
          <a:stretch/>
        </p:blipFill>
        <p:spPr bwMode="auto">
          <a:xfrm>
            <a:off x="152400" y="838200"/>
            <a:ext cx="5030221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65031"/>
            <a:ext cx="9144000" cy="907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8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229600" cy="6406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82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165</Words>
  <Application>Microsoft Office PowerPoint</Application>
  <PresentationFormat>On-screen Show (4:3)</PresentationFormat>
  <Paragraphs>16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Morse Potential</vt:lpstr>
      <vt:lpstr>Eigenfunctions</vt:lpstr>
      <vt:lpstr>Frank Condon Factors</vt:lpstr>
      <vt:lpstr>Great… but what’s r_e?</vt:lpstr>
      <vt:lpstr>Putting it all together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Brinson</dc:creator>
  <cp:lastModifiedBy>Alex Brinson</cp:lastModifiedBy>
  <cp:revision>33</cp:revision>
  <dcterms:created xsi:type="dcterms:W3CDTF">2020-06-04T04:38:10Z</dcterms:created>
  <dcterms:modified xsi:type="dcterms:W3CDTF">2020-06-05T16:20:35Z</dcterms:modified>
</cp:coreProperties>
</file>